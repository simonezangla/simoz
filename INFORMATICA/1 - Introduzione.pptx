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58EEB-DBE4-423E-B945-0B08D6238086}" type="datetimeFigureOut">
              <a:rPr lang="it-IT" smtClean="0"/>
              <a:t>14/09/2025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879DE-724E-4342-8F43-D850476D559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8633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1879DE-724E-4342-8F43-D850476D559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6973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1879DE-724E-4342-8F43-D850476D5598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919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7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58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2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98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12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65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78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6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06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9/14/2025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‹N›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72031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794" r:id="rId6"/>
    <p:sldLayoutId id="2147483790" r:id="rId7"/>
    <p:sldLayoutId id="2147483791" r:id="rId8"/>
    <p:sldLayoutId id="2147483792" r:id="rId9"/>
    <p:sldLayoutId id="2147483793" r:id="rId10"/>
    <p:sldLayoutId id="21474837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195D01A-A5A0-2930-BB54-24FD7B4E9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2498168"/>
          </a:xfrm>
        </p:spPr>
        <p:txBody>
          <a:bodyPr>
            <a:normAutofit/>
          </a:bodyPr>
          <a:lstStyle/>
          <a:p>
            <a:r>
              <a:rPr lang="it-IT" sz="6200" dirty="0"/>
              <a:t>Introduzione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941A7A2-89B2-F4AF-BB63-8C0F120D8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3333136"/>
            <a:ext cx="4500561" cy="1101212"/>
          </a:xfrm>
        </p:spPr>
        <p:txBody>
          <a:bodyPr>
            <a:normAutofit/>
          </a:bodyPr>
          <a:lstStyle/>
          <a:p>
            <a:r>
              <a:rPr lang="it-IT" dirty="0" err="1"/>
              <a:t>three</a:t>
            </a:r>
            <a:r>
              <a:rPr lang="it-IT" dirty="0"/>
              <a:t> TIER ARCHITECTURE e strumenti di utilizzo </a:t>
            </a:r>
          </a:p>
        </p:txBody>
      </p:sp>
      <p:pic>
        <p:nvPicPr>
          <p:cNvPr id="4" name="Picture 3" descr="Cerchio 3D fosforescente">
            <a:extLst>
              <a:ext uri="{FF2B5EF4-FFF2-40B4-BE49-F238E27FC236}">
                <a16:creationId xmlns:a16="http://schemas.microsoft.com/office/drawing/2014/main" id="{49C2BA5A-94B0-BAE0-F15D-5A257D8285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46" r="15264"/>
          <a:stretch>
            <a:fillRect/>
          </a:stretch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34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853E39E6-2A74-404E-B4BC-EEC89C01B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1039" name="Rectangle 1038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42" name="Group 1041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047" name="Rectangle 1046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8" name="Rectangle 1047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43" name="Group 1042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44" name="Rectangle 1043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50" name="Rectangle 1049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97FDB6D-E025-B856-68BE-F467C3172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545126"/>
            <a:ext cx="4554821" cy="1333916"/>
          </a:xfrm>
        </p:spPr>
        <p:txBody>
          <a:bodyPr anchor="b">
            <a:normAutofit/>
          </a:bodyPr>
          <a:lstStyle/>
          <a:p>
            <a:r>
              <a:rPr lang="it-IT" sz="4200" dirty="0"/>
              <a:t>THREE TIER ARCHITECTURE</a:t>
            </a:r>
          </a:p>
        </p:txBody>
      </p:sp>
      <p:sp>
        <p:nvSpPr>
          <p:cNvPr id="1052" name="Freeform: Shape 1051">
            <a:extLst>
              <a:ext uri="{FF2B5EF4-FFF2-40B4-BE49-F238E27FC236}">
                <a16:creationId xmlns:a16="http://schemas.microsoft.com/office/drawing/2014/main" id="{2D253D93-3319-4E06-B75F-009AE70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I tre livelli di SAP – CorsoSAP">
            <a:extLst>
              <a:ext uri="{FF2B5EF4-FFF2-40B4-BE49-F238E27FC236}">
                <a16:creationId xmlns:a16="http://schemas.microsoft.com/office/drawing/2014/main" id="{9A974966-C5C6-7AEE-A24B-57311B393A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776" y="2498881"/>
            <a:ext cx="5353200" cy="1860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D5C698-5B0B-B3BB-E354-DDC9013DE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4063" y="1879042"/>
            <a:ext cx="4537073" cy="4429683"/>
          </a:xfrm>
        </p:spPr>
        <p:txBody>
          <a:bodyPr anchor="t">
            <a:normAutofit fontScale="92500" lnSpcReduction="20000"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it-IT" sz="2400" dirty="0"/>
              <a:t>Prima di iniziare, è essenziale introdurre il concetto di architettura a tre livelli. Questa tipo di struttura definisce come è organizzata un’applicazione web e come funziona.</a:t>
            </a:r>
          </a:p>
          <a:p>
            <a:pPr marL="0" indent="0" algn="just">
              <a:lnSpc>
                <a:spcPct val="115000"/>
              </a:lnSpc>
              <a:buNone/>
            </a:pPr>
            <a:r>
              <a:rPr lang="it-IT" sz="2400" dirty="0"/>
              <a:t>Questa architetture Software e Hardware per l'esecuzione di un'applicazione web, prevede la suddivisione in tre diversi livelli: interfaccia utente, logica funzionale, gestione dei dati persistenti.</a:t>
            </a:r>
          </a:p>
        </p:txBody>
      </p:sp>
    </p:spTree>
    <p:extLst>
      <p:ext uri="{BB962C8B-B14F-4D97-AF65-F5344CB8AC3E}">
        <p14:creationId xmlns:p14="http://schemas.microsoft.com/office/powerpoint/2010/main" val="1042605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2058" name="Oval 2057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Oval 2058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0" name="Oval 2059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62" name="Freeform: Shape 2061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solidFill>
            <a:srgbClr val="FFFFFF"/>
          </a:solidFill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9845620-2E13-6377-9485-7C72DCC3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2181946"/>
          </a:xfrm>
        </p:spPr>
        <p:txBody>
          <a:bodyPr anchor="t">
            <a:normAutofit/>
          </a:bodyPr>
          <a:lstStyle/>
          <a:p>
            <a:r>
              <a:rPr lang="it-IT" dirty="0"/>
              <a:t>Presentation Layer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128D5A-0078-14E1-F0EF-4B45279AC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321169"/>
            <a:ext cx="4500562" cy="3987556"/>
          </a:xfrm>
        </p:spPr>
        <p:txBody>
          <a:bodyPr anchor="t">
            <a:normAutofit fontScale="85000" lnSpcReduction="20000"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it-IT" sz="2600" dirty="0"/>
              <a:t>Questo è il primo livello dell'architettura a tre livelli ed è responsabile dell'interfaccia utente dell'applicazione. In questo livello, vengono gestite tutte le interazioni con gli utenti (front-end). Le tecnologie di riferimento sono:</a:t>
            </a:r>
          </a:p>
          <a:p>
            <a:pPr algn="just">
              <a:lnSpc>
                <a:spcPct val="115000"/>
              </a:lnSpc>
            </a:pPr>
            <a:r>
              <a:rPr lang="it-IT" sz="2600" dirty="0"/>
              <a:t>HTML5;</a:t>
            </a:r>
          </a:p>
          <a:p>
            <a:pPr algn="just">
              <a:lnSpc>
                <a:spcPct val="115000"/>
              </a:lnSpc>
            </a:pPr>
            <a:r>
              <a:rPr lang="it-IT" sz="2600" dirty="0"/>
              <a:t>CSS3;</a:t>
            </a:r>
          </a:p>
          <a:p>
            <a:pPr algn="just">
              <a:lnSpc>
                <a:spcPct val="115000"/>
              </a:lnSpc>
            </a:pPr>
            <a:r>
              <a:rPr lang="it-IT" sz="2600" dirty="0"/>
              <a:t>JavaScript.</a:t>
            </a:r>
          </a:p>
          <a:p>
            <a:pPr>
              <a:lnSpc>
                <a:spcPct val="115000"/>
              </a:lnSpc>
            </a:pPr>
            <a:endParaRPr lang="it-IT" sz="1700" dirty="0"/>
          </a:p>
          <a:p>
            <a:pPr marL="0" indent="0">
              <a:lnSpc>
                <a:spcPct val="115000"/>
              </a:lnSpc>
              <a:buNone/>
            </a:pPr>
            <a:endParaRPr lang="it-IT" sz="1700" dirty="0"/>
          </a:p>
        </p:txBody>
      </p:sp>
      <p:pic>
        <p:nvPicPr>
          <p:cNvPr id="2050" name="Picture 2" descr="Come formarsi per diventare Front end developer | A-Sapiens">
            <a:extLst>
              <a:ext uri="{FF2B5EF4-FFF2-40B4-BE49-F238E27FC236}">
                <a16:creationId xmlns:a16="http://schemas.microsoft.com/office/drawing/2014/main" id="{CDB3E159-D8FA-7848-D67B-E22730C1A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5000" y="2398500"/>
            <a:ext cx="3600000" cy="206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719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81C8C0F4-5C44-4C3F-B321-5CB3E2BABC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1" name="Group 3080">
            <a:extLst>
              <a:ext uri="{FF2B5EF4-FFF2-40B4-BE49-F238E27FC236}">
                <a16:creationId xmlns:a16="http://schemas.microsoft.com/office/drawing/2014/main" id="{987A62DB-71D7-497D-BE1C-933ECB515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925125" y="3600"/>
            <a:ext cx="7266875" cy="6854400"/>
            <a:chOff x="4925125" y="3600"/>
            <a:chExt cx="7266875" cy="6854400"/>
          </a:xfrm>
        </p:grpSpPr>
        <p:sp>
          <p:nvSpPr>
            <p:cNvPr id="3082" name="Oval 3081">
              <a:extLst>
                <a:ext uri="{FF2B5EF4-FFF2-40B4-BE49-F238E27FC236}">
                  <a16:creationId xmlns:a16="http://schemas.microsoft.com/office/drawing/2014/main" id="{FDAC2767-A7E3-4697-90F6-443A58314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25125" y="1098000"/>
              <a:ext cx="5760000" cy="5760000"/>
            </a:xfrm>
            <a:prstGeom prst="ellipse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3" name="Oval 3082">
              <a:extLst>
                <a:ext uri="{FF2B5EF4-FFF2-40B4-BE49-F238E27FC236}">
                  <a16:creationId xmlns:a16="http://schemas.microsoft.com/office/drawing/2014/main" id="{AB23E396-A746-411A-8709-32ABC4DDE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105686" y="65314"/>
              <a:ext cx="4320000" cy="4320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4" name="Oval 3083">
              <a:extLst>
                <a:ext uri="{FF2B5EF4-FFF2-40B4-BE49-F238E27FC236}">
                  <a16:creationId xmlns:a16="http://schemas.microsoft.com/office/drawing/2014/main" id="{D135C986-CB82-4211-A910-D232B9BCA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337600" y="3600"/>
              <a:ext cx="6854400" cy="6854400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 useBgFill="1">
        <p:nvSpPr>
          <p:cNvPr id="3086" name="Freeform: Shape 3085">
            <a:extLst>
              <a:ext uri="{FF2B5EF4-FFF2-40B4-BE49-F238E27FC236}">
                <a16:creationId xmlns:a16="http://schemas.microsoft.com/office/drawing/2014/main" id="{837F2C8F-CC11-4A18-AA7E-AE8C022CD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000" y="1"/>
            <a:ext cx="6858000" cy="6857999"/>
          </a:xfrm>
          <a:custGeom>
            <a:avLst/>
            <a:gdLst>
              <a:gd name="connsiteX0" fmla="*/ 3428961 w 6858000"/>
              <a:gd name="connsiteY0" fmla="*/ 0 h 6857999"/>
              <a:gd name="connsiteX1" fmla="*/ 3429042 w 6858000"/>
              <a:gd name="connsiteY1" fmla="*/ 0 h 6857999"/>
              <a:gd name="connsiteX2" fmla="*/ 3605457 w 6858000"/>
              <a:gd name="connsiteY2" fmla="*/ 4461 h 6857999"/>
              <a:gd name="connsiteX3" fmla="*/ 6858000 w 6858000"/>
              <a:gd name="connsiteY3" fmla="*/ 3429000 h 6857999"/>
              <a:gd name="connsiteX4" fmla="*/ 3429001 w 6858000"/>
              <a:gd name="connsiteY4" fmla="*/ 6857999 h 6857999"/>
              <a:gd name="connsiteX5" fmla="*/ 0 w 6858000"/>
              <a:gd name="connsiteY5" fmla="*/ 3429000 h 6857999"/>
              <a:gd name="connsiteX6" fmla="*/ 3252545 w 6858000"/>
              <a:gd name="connsiteY6" fmla="*/ 446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6857999">
                <a:moveTo>
                  <a:pt x="3428961" y="0"/>
                </a:moveTo>
                <a:lnTo>
                  <a:pt x="3429042" y="0"/>
                </a:lnTo>
                <a:lnTo>
                  <a:pt x="3605457" y="4461"/>
                </a:lnTo>
                <a:cubicBezTo>
                  <a:pt x="5417236" y="96300"/>
                  <a:pt x="6858000" y="1594396"/>
                  <a:pt x="6858000" y="3429000"/>
                </a:cubicBezTo>
                <a:cubicBezTo>
                  <a:pt x="6858000" y="5322784"/>
                  <a:pt x="5322784" y="6857999"/>
                  <a:pt x="3429001" y="6857999"/>
                </a:cubicBezTo>
                <a:cubicBezTo>
                  <a:pt x="1535216" y="6857999"/>
                  <a:pt x="0" y="5322784"/>
                  <a:pt x="0" y="3429000"/>
                </a:cubicBezTo>
                <a:cubicBezTo>
                  <a:pt x="0" y="1594396"/>
                  <a:pt x="1440765" y="96300"/>
                  <a:pt x="3252545" y="4461"/>
                </a:cubicBezTo>
                <a:close/>
              </a:path>
            </a:pathLst>
          </a:custGeom>
          <a:effectLst>
            <a:softEdge rad="1016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2EEFAA0-D2E6-4475-96D7-9FCAC8BA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94076"/>
            <a:ext cx="6584281" cy="1083032"/>
          </a:xfrm>
        </p:spPr>
        <p:txBody>
          <a:bodyPr anchor="t">
            <a:normAutofit/>
          </a:bodyPr>
          <a:lstStyle/>
          <a:p>
            <a:r>
              <a:rPr lang="it-IT" dirty="0"/>
              <a:t>Application Layer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FCBE07-3EE5-5149-EA29-1049759F8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477108"/>
            <a:ext cx="4786738" cy="4831617"/>
          </a:xfrm>
        </p:spPr>
        <p:txBody>
          <a:bodyPr anchor="t">
            <a:normAutofit fontScale="92500" lnSpcReduction="20000"/>
          </a:bodyPr>
          <a:lstStyle/>
          <a:p>
            <a:pPr marL="0" indent="0" algn="just">
              <a:lnSpc>
                <a:spcPct val="115000"/>
              </a:lnSpc>
              <a:buNone/>
            </a:pPr>
            <a:r>
              <a:rPr lang="it-IT" sz="2000" dirty="0"/>
              <a:t>Il secondo livello, noto anche come "business </a:t>
            </a:r>
            <a:r>
              <a:rPr lang="it-IT" sz="2000" dirty="0" err="1"/>
              <a:t>logic</a:t>
            </a:r>
            <a:r>
              <a:rPr lang="it-IT" sz="2000" dirty="0"/>
              <a:t> </a:t>
            </a:r>
            <a:r>
              <a:rPr lang="it-IT" sz="2000" dirty="0" err="1"/>
              <a:t>layer</a:t>
            </a:r>
            <a:r>
              <a:rPr lang="it-IT" sz="2000" dirty="0"/>
              <a:t>," gestisce la logica e il flusso dell'applicazione (back-end). Qui vengono elaborate le richieste provenienti dal livello di presentazione e si occupa di svolgere operazioni specifiche dell'applicazione. Questo livello è responsabile di gestire dati, elaborare calcoli e assicurare che l'applicazione funzioni secondo le specifiche. Le tecnologie di riferimento sono:</a:t>
            </a:r>
          </a:p>
          <a:p>
            <a:pPr algn="just">
              <a:lnSpc>
                <a:spcPct val="115000"/>
              </a:lnSpc>
            </a:pPr>
            <a:r>
              <a:rPr lang="it-IT" sz="2000" dirty="0"/>
              <a:t>PHP;</a:t>
            </a:r>
          </a:p>
          <a:p>
            <a:pPr algn="just">
              <a:lnSpc>
                <a:spcPct val="115000"/>
              </a:lnSpc>
            </a:pPr>
            <a:r>
              <a:rPr lang="it-IT" sz="2000" dirty="0"/>
              <a:t>Python;</a:t>
            </a:r>
          </a:p>
          <a:p>
            <a:pPr algn="just">
              <a:lnSpc>
                <a:spcPct val="115000"/>
              </a:lnSpc>
            </a:pPr>
            <a:r>
              <a:rPr lang="it-IT" sz="2000" dirty="0" err="1"/>
              <a:t>Nodejs</a:t>
            </a:r>
            <a:r>
              <a:rPr lang="it-IT" sz="2000" dirty="0"/>
              <a:t>.</a:t>
            </a:r>
          </a:p>
        </p:txBody>
      </p:sp>
      <p:pic>
        <p:nvPicPr>
          <p:cNvPr id="3074" name="Picture 2" descr="Come Diventare Sviluppatori Backend: Le Competenze da Acquisire">
            <a:extLst>
              <a:ext uri="{FF2B5EF4-FFF2-40B4-BE49-F238E27FC236}">
                <a16:creationId xmlns:a16="http://schemas.microsoft.com/office/drawing/2014/main" id="{0644EFD5-488D-77F6-EED5-BDCE86818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25000" y="2172307"/>
            <a:ext cx="3600000" cy="2156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06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A9CD3E6-968F-41B1-B6FA-C6FD9B72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85B9B66-FBFD-4615-0E0F-8A3DC64CA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4500561" cy="1953501"/>
          </a:xfrm>
        </p:spPr>
        <p:txBody>
          <a:bodyPr anchor="t">
            <a:normAutofit/>
          </a:bodyPr>
          <a:lstStyle/>
          <a:p>
            <a:r>
              <a:rPr lang="it-IT" dirty="0"/>
              <a:t>Data Layer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3248DA-0437-E1A3-412E-6ECC86765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1671579"/>
            <a:ext cx="6408738" cy="4637146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it-IT" sz="2200" dirty="0"/>
              <a:t>Il terzo livello, noto anche come "data storage </a:t>
            </a:r>
            <a:r>
              <a:rPr lang="it-IT" sz="2200" dirty="0" err="1"/>
              <a:t>layer</a:t>
            </a:r>
            <a:r>
              <a:rPr lang="it-IT" sz="2200" dirty="0"/>
              <a:t>," si occupa della gestione dei dati dell'applicazione. Questo livello è responsabile di archiviare, recuperare e manipolare i dati dell'applicazione. A questo livello le informazioni possono essere gestite mediante Filesystem(archivi in formato </a:t>
            </a:r>
            <a:r>
              <a:rPr lang="it-IT" sz="2200" dirty="0" err="1"/>
              <a:t>txt</a:t>
            </a:r>
            <a:r>
              <a:rPr lang="it-IT" sz="2200" dirty="0"/>
              <a:t>, </a:t>
            </a:r>
            <a:r>
              <a:rPr lang="it-IT" sz="2200" dirty="0" err="1"/>
              <a:t>json</a:t>
            </a:r>
            <a:r>
              <a:rPr lang="it-IT" sz="2200" dirty="0"/>
              <a:t>, xml,..) o in modo più strutturato attraverso DBMS (MYSQL, MONGODB, POSTGRES,..).</a:t>
            </a:r>
          </a:p>
        </p:txBody>
      </p:sp>
      <p:grpSp>
        <p:nvGrpSpPr>
          <p:cNvPr id="4105" name="Group 4104">
            <a:extLst>
              <a:ext uri="{FF2B5EF4-FFF2-40B4-BE49-F238E27FC236}">
                <a16:creationId xmlns:a16="http://schemas.microsoft.com/office/drawing/2014/main" id="{2F76036C-C247-4F63-AE7F-2ADB1D496E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671579"/>
            <a:ext cx="4946649" cy="4792115"/>
            <a:chOff x="0" y="1671579"/>
            <a:chExt cx="4946649" cy="4792115"/>
          </a:xfrm>
        </p:grpSpPr>
        <p:sp>
          <p:nvSpPr>
            <p:cNvPr id="4106" name="Oval 4105">
              <a:extLst>
                <a:ext uri="{FF2B5EF4-FFF2-40B4-BE49-F238E27FC236}">
                  <a16:creationId xmlns:a16="http://schemas.microsoft.com/office/drawing/2014/main" id="{76E007C2-3152-4316-9102-D76C4E77F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4534" y="1671579"/>
              <a:ext cx="4792115" cy="4792115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7" name="Oval 4106">
              <a:extLst>
                <a:ext uri="{FF2B5EF4-FFF2-40B4-BE49-F238E27FC236}">
                  <a16:creationId xmlns:a16="http://schemas.microsoft.com/office/drawing/2014/main" id="{097CD397-C9CD-43FA-ABEF-9C3530B000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115933"/>
              <a:ext cx="4320000" cy="4320000"/>
            </a:xfrm>
            <a:prstGeom prst="ellips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98" name="Picture 2" descr="Top 6 Database Challenges and Solutions">
            <a:extLst>
              <a:ext uri="{FF2B5EF4-FFF2-40B4-BE49-F238E27FC236}">
                <a16:creationId xmlns:a16="http://schemas.microsoft.com/office/drawing/2014/main" id="{94FAFE56-A664-82C7-D3CA-7EF90E00D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" r="33937" b="-1"/>
          <a:stretch>
            <a:fillRect/>
          </a:stretch>
        </p:blipFill>
        <p:spPr bwMode="auto">
          <a:xfrm>
            <a:off x="579025" y="2169113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6858000" h="6858000">
                <a:moveTo>
                  <a:pt x="3429001" y="0"/>
                </a:moveTo>
                <a:cubicBezTo>
                  <a:pt x="5322784" y="0"/>
                  <a:pt x="6858000" y="1535216"/>
                  <a:pt x="6858000" y="3429001"/>
                </a:cubicBezTo>
                <a:cubicBezTo>
                  <a:pt x="6858000" y="5322785"/>
                  <a:pt x="5322784" y="6858000"/>
                  <a:pt x="3429001" y="6858000"/>
                </a:cubicBezTo>
                <a:cubicBezTo>
                  <a:pt x="1535216" y="6858000"/>
                  <a:pt x="0" y="5322785"/>
                  <a:pt x="0" y="3429001"/>
                </a:cubicBezTo>
                <a:cubicBezTo>
                  <a:pt x="0" y="1535216"/>
                  <a:pt x="1535216" y="0"/>
                  <a:pt x="3429001" y="0"/>
                </a:cubicBezTo>
                <a:close/>
              </a:path>
            </a:pathLst>
          </a:custGeom>
          <a:noFill/>
          <a:effectLst>
            <a:softEdge rad="508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950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0BDC2D-805A-98E3-7D0E-3EB1698FE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Web App in Action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9368E5-EDDB-B94C-E892-616FC4DFE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573161"/>
            <a:ext cx="11101136" cy="473556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it-IT" sz="2000" dirty="0"/>
              <a:t>L’utente digita sul browser </a:t>
            </a:r>
            <a:r>
              <a:rPr lang="it-IT" sz="2000" dirty="0" err="1"/>
              <a:t>l’url</a:t>
            </a:r>
            <a:r>
              <a:rPr lang="it-IT" sz="2000" dirty="0"/>
              <a:t> di un file e il browser invia una richiesta http al server;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2000" dirty="0"/>
              <a:t>Il server cerca il file nel suo file system e se lo trova:</a:t>
            </a:r>
          </a:p>
          <a:p>
            <a:r>
              <a:rPr lang="it-IT" sz="2000" dirty="0"/>
              <a:t>Se l’estensione è .html/.</a:t>
            </a:r>
            <a:r>
              <a:rPr lang="it-IT" sz="2000" dirty="0" err="1"/>
              <a:t>js</a:t>
            </a:r>
            <a:r>
              <a:rPr lang="it-IT" sz="2000" dirty="0"/>
              <a:t>/.. lo invia con una risposta  http;</a:t>
            </a:r>
          </a:p>
          <a:p>
            <a:r>
              <a:rPr lang="it-IT" sz="2000" dirty="0"/>
              <a:t>Se l’estensione è .</a:t>
            </a:r>
            <a:r>
              <a:rPr lang="it-IT" sz="2000" dirty="0" err="1"/>
              <a:t>php</a:t>
            </a:r>
            <a:r>
              <a:rPr lang="it-IT" sz="2000" dirty="0"/>
              <a:t> interpreta il codice lato server  contenuto nel file, genera un output in un formato comprensibile dal browser e lo restituisce con una risposta http;</a:t>
            </a:r>
          </a:p>
          <a:p>
            <a:pPr marL="0" indent="0">
              <a:buNone/>
            </a:pPr>
            <a:r>
              <a:rPr lang="it-IT" sz="2000" dirty="0"/>
              <a:t>3.  Il browser interpreta il contenuto del file (html-</a:t>
            </a:r>
            <a:r>
              <a:rPr lang="it-IT" sz="2000" dirty="0" err="1"/>
              <a:t>css</a:t>
            </a:r>
            <a:r>
              <a:rPr lang="it-IT" sz="2000" dirty="0"/>
              <a:t>-</a:t>
            </a:r>
            <a:r>
              <a:rPr lang="it-IT" sz="2000" dirty="0" err="1"/>
              <a:t>js</a:t>
            </a:r>
            <a:r>
              <a:rPr lang="it-IT" sz="2000" dirty="0"/>
              <a:t>) e visualizza il risultato  all’utente.</a:t>
            </a:r>
          </a:p>
          <a:p>
            <a:pPr marL="342900" indent="-342900">
              <a:buFont typeface="+mj-lt"/>
              <a:buAutoNum type="arabicPeriod"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342900" indent="-342900">
              <a:buFont typeface="+mj-lt"/>
              <a:buAutoNum type="arabicPeriod"/>
            </a:pP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44B8129-0659-3AF0-7F06-C178A34BC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946" y="4612391"/>
            <a:ext cx="3076150" cy="180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492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1C3F56-78FD-0D15-24D9-6B1CBB68C6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/>
              <a:t>Strumenti di sviluppo che utilizzeremo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4019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853E39E6-2A74-404E-B4BC-EEC89C01B7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30D050C3-946A-4155-B469-3FE5492E6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12191999" cy="6861600"/>
            <a:chOff x="1" y="0"/>
            <a:chExt cx="12191999" cy="6861600"/>
          </a:xfrm>
        </p:grpSpPr>
        <p:sp>
          <p:nvSpPr>
            <p:cNvPr id="5130" name="Rectangle 5129">
              <a:extLst>
                <a:ext uri="{FF2B5EF4-FFF2-40B4-BE49-F238E27FC236}">
                  <a16:creationId xmlns:a16="http://schemas.microsoft.com/office/drawing/2014/main" id="{70D7BFBB-BF60-4EF1-AF1C-731347DB1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Oval 5130">
              <a:extLst>
                <a:ext uri="{FF2B5EF4-FFF2-40B4-BE49-F238E27FC236}">
                  <a16:creationId xmlns:a16="http://schemas.microsoft.com/office/drawing/2014/main" id="{40150CBC-E30B-417C-9BB2-CE6BB1A644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2" name="Oval 5131">
              <a:extLst>
                <a:ext uri="{FF2B5EF4-FFF2-40B4-BE49-F238E27FC236}">
                  <a16:creationId xmlns:a16="http://schemas.microsoft.com/office/drawing/2014/main" id="{476020D6-6ADB-408E-A69F-4EA6F51A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133" name="Group 5132">
              <a:extLst>
                <a:ext uri="{FF2B5EF4-FFF2-40B4-BE49-F238E27FC236}">
                  <a16:creationId xmlns:a16="http://schemas.microsoft.com/office/drawing/2014/main" id="{8226C8E5-1D99-421D-AB3C-2AF296A153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5138" name="Rectangle 5137">
                <a:extLst>
                  <a:ext uri="{FF2B5EF4-FFF2-40B4-BE49-F238E27FC236}">
                    <a16:creationId xmlns:a16="http://schemas.microsoft.com/office/drawing/2014/main" id="{67669339-D0C4-4CF0-9A76-5BFBCDB798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9" name="Rectangle 5138">
                <a:extLst>
                  <a:ext uri="{FF2B5EF4-FFF2-40B4-BE49-F238E27FC236}">
                    <a16:creationId xmlns:a16="http://schemas.microsoft.com/office/drawing/2014/main" id="{38B31604-91C4-4CB0-8097-02EE0ADDC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134" name="Group 5133">
              <a:extLst>
                <a:ext uri="{FF2B5EF4-FFF2-40B4-BE49-F238E27FC236}">
                  <a16:creationId xmlns:a16="http://schemas.microsoft.com/office/drawing/2014/main" id="{548340F5-A593-469A-98DC-B6D90D3B2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5136" name="Rectangle 5135">
                <a:extLst>
                  <a:ext uri="{FF2B5EF4-FFF2-40B4-BE49-F238E27FC236}">
                    <a16:creationId xmlns:a16="http://schemas.microsoft.com/office/drawing/2014/main" id="{B59E3068-3000-4C82-ACA8-367498951E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37" name="Rectangle 5136">
                <a:extLst>
                  <a:ext uri="{FF2B5EF4-FFF2-40B4-BE49-F238E27FC236}">
                    <a16:creationId xmlns:a16="http://schemas.microsoft.com/office/drawing/2014/main" id="{C2E1C398-D8F7-4828-9F7F-80D61DAE2B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35" name="Rectangle 5134">
              <a:extLst>
                <a:ext uri="{FF2B5EF4-FFF2-40B4-BE49-F238E27FC236}">
                  <a16:creationId xmlns:a16="http://schemas.microsoft.com/office/drawing/2014/main" id="{813B333C-60FD-4260-80E0-190666C9D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41" name="Rectangle 5140">
            <a:extLst>
              <a:ext uri="{FF2B5EF4-FFF2-40B4-BE49-F238E27FC236}">
                <a16:creationId xmlns:a16="http://schemas.microsoft.com/office/drawing/2014/main" id="{DC05F582-AA63-4A8C-915E-66057E4B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60000"/>
                </a:schemeClr>
              </a:gs>
              <a:gs pos="37000">
                <a:schemeClr val="bg2">
                  <a:alpha val="6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EB6EDD-077A-52E0-D39A-F33DBE936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6315" y="363794"/>
            <a:ext cx="4554821" cy="1060339"/>
          </a:xfrm>
        </p:spPr>
        <p:txBody>
          <a:bodyPr anchor="b">
            <a:normAutofit/>
          </a:bodyPr>
          <a:lstStyle/>
          <a:p>
            <a:r>
              <a:rPr lang="it-IT" dirty="0"/>
              <a:t>Ambiente </a:t>
            </a:r>
          </a:p>
        </p:txBody>
      </p:sp>
      <p:sp>
        <p:nvSpPr>
          <p:cNvPr id="5143" name="Freeform: Shape 5142">
            <a:extLst>
              <a:ext uri="{FF2B5EF4-FFF2-40B4-BE49-F238E27FC236}">
                <a16:creationId xmlns:a16="http://schemas.microsoft.com/office/drawing/2014/main" id="{2D253D93-3319-4E06-B75F-009AE70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44576" cy="6858000"/>
          </a:xfrm>
          <a:custGeom>
            <a:avLst/>
            <a:gdLst>
              <a:gd name="connsiteX0" fmla="*/ 0 w 6444576"/>
              <a:gd name="connsiteY0" fmla="*/ 0 h 6858000"/>
              <a:gd name="connsiteX1" fmla="*/ 6444576 w 6444576"/>
              <a:gd name="connsiteY1" fmla="*/ 0 h 6858000"/>
              <a:gd name="connsiteX2" fmla="*/ 6444576 w 6444576"/>
              <a:gd name="connsiteY2" fmla="*/ 6858000 h 6858000"/>
              <a:gd name="connsiteX3" fmla="*/ 0 w 64445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44576" h="6858000">
                <a:moveTo>
                  <a:pt x="0" y="0"/>
                </a:moveTo>
                <a:lnTo>
                  <a:pt x="6444576" y="0"/>
                </a:lnTo>
                <a:lnTo>
                  <a:pt x="6444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122" name="Picture 2" descr="LARAGON, an easy and yet powerful Local Web Development Server | KREAWEB">
            <a:extLst>
              <a:ext uri="{FF2B5EF4-FFF2-40B4-BE49-F238E27FC236}">
                <a16:creationId xmlns:a16="http://schemas.microsoft.com/office/drawing/2014/main" id="{153BF8C3-D162-9784-EB74-E4ECED965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1776" y="1424133"/>
            <a:ext cx="5353200" cy="4009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162BDA-C710-9496-B8C7-D68764032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8975" y="1640114"/>
            <a:ext cx="4812161" cy="4668611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it-IT" sz="2200" dirty="0"/>
              <a:t>Esistono dei pacchetti per lo sviluppo di applicazioni </a:t>
            </a:r>
            <a:r>
              <a:rPr lang="it-IT" sz="2200" dirty="0" err="1"/>
              <a:t>php</a:t>
            </a:r>
            <a:r>
              <a:rPr lang="it-IT" sz="2200" dirty="0"/>
              <a:t> in locale, noi useremo </a:t>
            </a:r>
            <a:r>
              <a:rPr lang="it-IT" sz="2200" dirty="0" err="1"/>
              <a:t>Laragon</a:t>
            </a:r>
            <a:r>
              <a:rPr lang="it-IT" sz="2200" dirty="0"/>
              <a:t>. E’ un ambiente integrato che contiene tutte le componenti necessarie:</a:t>
            </a:r>
          </a:p>
          <a:p>
            <a:pPr algn="just"/>
            <a:r>
              <a:rPr lang="it-IT" sz="2200" dirty="0"/>
              <a:t>Un server web </a:t>
            </a:r>
            <a:r>
              <a:rPr lang="it-IT" sz="2200" b="1" dirty="0"/>
              <a:t>apache</a:t>
            </a:r>
            <a:r>
              <a:rPr lang="it-IT" sz="2200" dirty="0"/>
              <a:t>;</a:t>
            </a:r>
          </a:p>
          <a:p>
            <a:pPr algn="just"/>
            <a:r>
              <a:rPr lang="it-IT" sz="2200" dirty="0"/>
              <a:t>Un interprete </a:t>
            </a:r>
            <a:r>
              <a:rPr lang="it-IT" sz="2200" b="1" dirty="0" err="1"/>
              <a:t>php</a:t>
            </a:r>
            <a:r>
              <a:rPr lang="it-IT" sz="2200" dirty="0"/>
              <a:t>;</a:t>
            </a:r>
          </a:p>
          <a:p>
            <a:pPr algn="just"/>
            <a:r>
              <a:rPr lang="it-IT" sz="2200" dirty="0"/>
              <a:t>Un </a:t>
            </a:r>
            <a:r>
              <a:rPr lang="it-IT" sz="2200" dirty="0" err="1"/>
              <a:t>dbms</a:t>
            </a:r>
            <a:r>
              <a:rPr lang="it-IT" sz="2200" dirty="0"/>
              <a:t> </a:t>
            </a:r>
            <a:r>
              <a:rPr lang="it-IT" sz="2200" b="1" dirty="0" err="1"/>
              <a:t>mysql</a:t>
            </a:r>
            <a:r>
              <a:rPr lang="it-IT" sz="2200" dirty="0"/>
              <a:t>.</a:t>
            </a:r>
          </a:p>
          <a:p>
            <a:endParaRPr lang="it-IT" dirty="0"/>
          </a:p>
          <a:p>
            <a:endParaRPr lang="it-IT" b="1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804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EB5521-A709-D975-FC1E-868F4621A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101987"/>
          </a:xfrm>
        </p:spPr>
        <p:txBody>
          <a:bodyPr/>
          <a:lstStyle/>
          <a:p>
            <a:r>
              <a:rPr lang="it-IT" dirty="0"/>
              <a:t>Istruzioni Operative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77CEC7-1186-3FA5-2D6D-26402ADD9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41987"/>
            <a:ext cx="11101136" cy="466673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Dopo l’istallazione e l’avvio, il server Apache crea un dominio virtuale (in  locale) all'indirizzo di </a:t>
            </a:r>
            <a:r>
              <a:rPr lang="it-IT" dirty="0" err="1"/>
              <a:t>localhost</a:t>
            </a:r>
            <a:r>
              <a:rPr lang="it-IT" dirty="0"/>
              <a:t> (127.0.0.1)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La cartella ‘www‘ rappresenta la root directory del server. I file che  compongono la web app da testare dovranno essere salvati qui, cioè nello spazio pubblico del dominio del web server;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/>
              <a:t>Per visualizzare l’output di uno script PHP occorre, da browser, digitare la URL della risorsa (non è possibile accedere a un file  ospitato sul server aprendolo in locale).</a:t>
            </a:r>
          </a:p>
          <a:p>
            <a:pPr marL="0" indent="0">
              <a:buNone/>
            </a:pPr>
            <a:r>
              <a:rPr lang="it-IT" dirty="0"/>
              <a:t>Modi per accedere all’output di uno script PHP:</a:t>
            </a:r>
          </a:p>
          <a:p>
            <a:r>
              <a:rPr lang="it-IT" dirty="0"/>
              <a:t>127.0.0.1/</a:t>
            </a:r>
            <a:r>
              <a:rPr lang="it-IT" dirty="0" err="1"/>
              <a:t>prova.php</a:t>
            </a:r>
            <a:endParaRPr lang="it-IT" dirty="0"/>
          </a:p>
          <a:p>
            <a:r>
              <a:rPr lang="it-IT" dirty="0" err="1"/>
              <a:t>localhost</a:t>
            </a:r>
            <a:r>
              <a:rPr lang="it-IT" dirty="0"/>
              <a:t>/</a:t>
            </a:r>
            <a:r>
              <a:rPr lang="it-IT" dirty="0" err="1"/>
              <a:t>prova.php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6700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5EFAD76-6928-46F5-8800-C1AF27C5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9E9B0E-D372-C6A0-2C3D-FFA179211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4221843"/>
            <a:ext cx="4500561" cy="1850671"/>
          </a:xfrm>
        </p:spPr>
        <p:txBody>
          <a:bodyPr anchor="b">
            <a:normAutofit/>
          </a:bodyPr>
          <a:lstStyle/>
          <a:p>
            <a:r>
              <a:rPr lang="it-IT" dirty="0"/>
              <a:t>Ambiente di sviluppo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F82CED1-76F4-DFD3-51E2-CE63FD0FEF8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754" y="438558"/>
            <a:ext cx="10784492" cy="3210649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50A931-256C-ED44-27BE-D2C940DC3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285" y="3961457"/>
            <a:ext cx="5720735" cy="2371441"/>
          </a:xfrm>
        </p:spPr>
        <p:txBody>
          <a:bodyPr anchor="b">
            <a:normAutofit fontScale="92500" lnSpcReduction="20000"/>
          </a:bodyPr>
          <a:lstStyle/>
          <a:p>
            <a:pPr marL="0" indent="0" algn="just">
              <a:buNone/>
            </a:pPr>
            <a:r>
              <a:rPr lang="it-IT" sz="2400" dirty="0"/>
              <a:t>Una volta compreso il concetto di programmazione lato server, inizieremo ad usare un ambiente di sviluppo specifico che permette di sviluppare e avviare le applicazioni in modo molto più immediato.</a:t>
            </a:r>
          </a:p>
        </p:txBody>
      </p:sp>
    </p:spTree>
    <p:extLst>
      <p:ext uri="{BB962C8B-B14F-4D97-AF65-F5344CB8AC3E}">
        <p14:creationId xmlns:p14="http://schemas.microsoft.com/office/powerpoint/2010/main" val="2076509771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Glow">
      <a:dk1>
        <a:sysClr val="windowText" lastClr="000000"/>
      </a:dk1>
      <a:lt1>
        <a:sysClr val="window" lastClr="FFFFFF"/>
      </a:lt1>
      <a:dk2>
        <a:srgbClr val="00000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554</Words>
  <Application>Microsoft Office PowerPoint</Application>
  <PresentationFormat>Widescreen</PresentationFormat>
  <Paragraphs>45</Paragraphs>
  <Slides>10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Aptos</vt:lpstr>
      <vt:lpstr>Arial</vt:lpstr>
      <vt:lpstr>Avenir Next LT Pro</vt:lpstr>
      <vt:lpstr>Bell MT</vt:lpstr>
      <vt:lpstr>GlowVTI</vt:lpstr>
      <vt:lpstr>Introduzione </vt:lpstr>
      <vt:lpstr>THREE TIER ARCHITECTURE</vt:lpstr>
      <vt:lpstr>Presentation Layer</vt:lpstr>
      <vt:lpstr>Application Layer </vt:lpstr>
      <vt:lpstr>Data Layer</vt:lpstr>
      <vt:lpstr>Web App in Action</vt:lpstr>
      <vt:lpstr>Strumenti di sviluppo che utilizzeremo</vt:lpstr>
      <vt:lpstr>Ambiente </vt:lpstr>
      <vt:lpstr>Istruzioni Operative </vt:lpstr>
      <vt:lpstr>Ambiente di sviluppo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Zangla</dc:creator>
  <cp:lastModifiedBy>Simone Zangla</cp:lastModifiedBy>
  <cp:revision>2</cp:revision>
  <dcterms:created xsi:type="dcterms:W3CDTF">2025-07-07T09:22:30Z</dcterms:created>
  <dcterms:modified xsi:type="dcterms:W3CDTF">2025-09-14T15:40:23Z</dcterms:modified>
</cp:coreProperties>
</file>